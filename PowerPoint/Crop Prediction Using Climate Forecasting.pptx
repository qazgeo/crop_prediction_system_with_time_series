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5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1276350"/>
            <a:ext cx="981050" cy="323849"/>
          </a:xfrm>
          <a:prstGeom prst="roundRect">
            <a:avLst>
              <a:gd name="adj" fmla="val 58817647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33" y="1276350"/>
            <a:ext cx="981050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37DCF2"/>
                </a:solidFill>
                <a:latin typeface="Roboto Flex"/>
              </a:rPr>
              <a:t>FALL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715808"/>
            <a:ext cx="4283480" cy="23691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875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 dirty="0">
                <a:solidFill>
                  <a:srgbClr val="FFFFFF"/>
                </a:solidFill>
                <a:latin typeface="Source Code Pro"/>
              </a:rPr>
              <a:t>CROP PREDICTION</a:t>
            </a:r>
            <a:r>
              <a:rPr sz="1104" dirty="0"/>
              <a:t>
</a:t>
            </a:r>
            <a:r>
              <a:rPr sz="3588" b="1" dirty="0">
                <a:solidFill>
                  <a:srgbClr val="FFFFFF"/>
                </a:solidFill>
                <a:latin typeface="Source Code Pro"/>
              </a:rPr>
              <a:t>USING CLIMATE</a:t>
            </a:r>
            <a:r>
              <a:rPr sz="1104" dirty="0"/>
              <a:t>
</a:t>
            </a:r>
            <a:r>
              <a:rPr sz="3588" b="1" dirty="0">
                <a:solidFill>
                  <a:srgbClr val="FFFFFF"/>
                </a:solidFill>
                <a:latin typeface="Source Code Pro"/>
              </a:rPr>
              <a:t>FORECASTING 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4210049"/>
            <a:ext cx="914377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4476750"/>
            <a:ext cx="76769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 Data-Driven Approach to Agricultural Decision Support in Malawi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5048250"/>
            <a:ext cx="76769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Rading George Mitema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5353049"/>
            <a:ext cx="76769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United States International University - Africa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4681" y="1904999"/>
            <a:ext cx="304792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81870" y="1828800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</a:rPr>
              <a:t>6 Crops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1870" y="2209800"/>
            <a:ext cx="12001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Analyzed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4681" y="2766646"/>
            <a:ext cx="304792" cy="2579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1870" y="2705099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</a:rPr>
              <a:t>23 Districts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1870" y="3086100"/>
            <a:ext cx="205734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Covered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4681" y="3628292"/>
            <a:ext cx="304792" cy="2872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1870" y="3581400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</a:rPr>
              <a:t>5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1870" y="3962399"/>
            <a:ext cx="12001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Projections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24681" y="4539761"/>
            <a:ext cx="304792" cy="2168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1870" y="4457700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</a:rPr>
              <a:t>SARIMAX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1870" y="4838699"/>
            <a:ext cx="12001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Forecasting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162235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00" y="1137416"/>
            <a:ext cx="342891" cy="277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19689" y="933449"/>
            <a:ext cx="4314717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62500" y="1771650"/>
            <a:ext cx="761980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500" y="2184538"/>
            <a:ext cx="266693" cy="2029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1590" y="2114550"/>
            <a:ext cx="274313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80% Rural Households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590" y="2457450"/>
            <a:ext cx="274313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Depend entirely on what they grow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500" y="2981739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1590" y="2914650"/>
            <a:ext cx="450521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Climate Crisis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590" y="3257550"/>
            <a:ext cx="45052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Erratic rainfall, rising temperatures, unpredictable dry spells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2500" y="3762996"/>
            <a:ext cx="266693" cy="2464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1590" y="3714750"/>
            <a:ext cx="329556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Widespread Crop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590" y="4057650"/>
            <a:ext cx="32955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Across Malawi, causing food shortages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2500" y="4561646"/>
            <a:ext cx="266693" cy="2493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1590" y="4514850"/>
            <a:ext cx="43051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No Localized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590" y="4857750"/>
            <a:ext cx="43051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National forecasts too general, no district-specific advice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2500" y="5382039"/>
            <a:ext cx="266693" cy="208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81590" y="5314950"/>
            <a:ext cx="447663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Unreliable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590" y="5657850"/>
            <a:ext cx="447663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Farmers rely on gut feeling and tradition — no longer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33" y="2238375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238375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Roboto Flex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714625"/>
            <a:ext cx="331461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56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3514725"/>
            <a:ext cx="761980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733" y="3781424"/>
            <a:ext cx="3314617" cy="838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Exploring the intersection of climate forecasting and agricultural decision-making in Malawi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8083" y="1431131"/>
            <a:ext cx="228594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2876" y="1390650"/>
            <a:ext cx="194305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083" y="1771650"/>
            <a:ext cx="3286042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Farming depends entirely on unreliable rainfall and climate change is making traditional approaches costly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919" y="14268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3711" y="1390650"/>
            <a:ext cx="194305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General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919" y="1771650"/>
            <a:ext cx="3286042" cy="495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Build data-driven crop prediction system merging climate forecasts with suitability scores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083" y="27793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52876" y="2743200"/>
            <a:ext cx="217164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Specific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083" y="3124200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Forecast climate variables (SARIMAX)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083" y="3409950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Assess crop suitability (FAO thresholds)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083" y="3695699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Create web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083" y="3949459"/>
            <a:ext cx="1385444" cy="292581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Roboto Flex"/>
              </a:rPr>
              <a:t>• Test </a:t>
            </a:r>
            <a:r>
              <a:rPr lang="en-US" sz="956" b="0" dirty="0">
                <a:solidFill>
                  <a:srgbClr val="FFFFFF"/>
                </a:solidFill>
                <a:latin typeface="Roboto Flex"/>
              </a:rPr>
              <a:t>crop suitability</a:t>
            </a:r>
            <a:endParaRPr sz="956" b="0" dirty="0">
              <a:solidFill>
                <a:srgbClr val="FFFFFF"/>
              </a:solidFill>
              <a:latin typeface="Roboto Flex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8919" y="277939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43711" y="2743200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Research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919" y="3124200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Which crops suit different districts?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919" y="3409950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How accurate are SARIMAX models?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919" y="3695699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How to translate forecasts into clear advice?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919" y="3981449"/>
            <a:ext cx="3286042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What do regional differences reveal?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8083" y="4514850"/>
            <a:ext cx="6876878" cy="952499"/>
          </a:xfrm>
          <a:prstGeom prst="roundRect">
            <a:avLst>
              <a:gd name="adj" fmla="val 1600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221364" y="49415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7153" y="4734339"/>
            <a:ext cx="266693" cy="2087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48143" y="4705350"/>
            <a:ext cx="49814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Study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143" y="5048250"/>
            <a:ext cx="18001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23 Districts</a:t>
            </a:r>
            <a:r>
              <a:rPr sz="956" b="0">
                <a:solidFill>
                  <a:srgbClr val="FFFFFF"/>
                </a:solidFill>
                <a:latin typeface="Roboto Flex"/>
              </a:rPr>
              <a:t> across Malawi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6918" y="5048250"/>
            <a:ext cx="11715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6 Crops</a:t>
            </a:r>
            <a:r>
              <a:rPr sz="956" b="0">
                <a:solidFill>
                  <a:srgbClr val="FFFFFF"/>
                </a:solidFill>
                <a:latin typeface="Roboto Flex"/>
              </a:rPr>
              <a:t> analyzed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7058" y="5048250"/>
            <a:ext cx="154301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2022-2025</a:t>
            </a:r>
            <a:r>
              <a:rPr sz="956" b="0">
                <a:solidFill>
                  <a:srgbClr val="FFFFFF"/>
                </a:solidFill>
                <a:latin typeface="Roboto Flex"/>
              </a:rPr>
              <a:t> data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33" y="2190749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190749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Roboto Flex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585589"/>
            <a:ext cx="2281330" cy="116294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1560"/>
              </a:spcAft>
            </a:pPr>
            <a:r>
              <a:rPr sz="2511" b="1" dirty="0">
                <a:solidFill>
                  <a:srgbClr val="FFFFFF"/>
                </a:solidFill>
                <a:latin typeface="Source Code Pro"/>
              </a:rPr>
              <a:t>Literature </a:t>
            </a:r>
            <a:endParaRPr lang="en-US" sz="2511" b="1" dirty="0">
              <a:solidFill>
                <a:srgbClr val="FFFFFF"/>
              </a:solidFill>
              <a:latin typeface="Source Code Pro"/>
            </a:endParaRPr>
          </a:p>
          <a:p>
            <a:pPr algn="l">
              <a:lnSpc>
                <a:spcPts val="3380"/>
              </a:lnSpc>
              <a:spcBef>
                <a:spcPts val="0"/>
              </a:spcBef>
              <a:spcAft>
                <a:spcPts val="1560"/>
              </a:spcAft>
            </a:pPr>
            <a:r>
              <a:rPr sz="2511" b="1" dirty="0">
                <a:solidFill>
                  <a:srgbClr val="FFFFFF"/>
                </a:solidFill>
                <a:latin typeface="Source Code Pro"/>
              </a:rPr>
              <a:t>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3905249"/>
            <a:ext cx="761980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733" y="4171950"/>
            <a:ext cx="2800279" cy="495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Theoretical foundations and empirical gaps shaping the system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3251" y="1000125"/>
            <a:ext cx="7581710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3192681" y="1750695"/>
            <a:ext cx="1600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62320" y="1226066"/>
            <a:ext cx="247643" cy="195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6162" y="1190625"/>
            <a:ext cx="24002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Theoretical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2320" y="1571625"/>
            <a:ext cx="35146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Design Science Research (DSR)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9354" y="1571625"/>
            <a:ext cx="35146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Time-series forecasting theory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2320" y="1876424"/>
            <a:ext cx="35146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Agroecological theory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9354" y="1876424"/>
            <a:ext cx="35146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Decision Support System theory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43251" y="2790824"/>
            <a:ext cx="7581710" cy="1847849"/>
          </a:xfrm>
          <a:prstGeom prst="roundRect">
            <a:avLst>
              <a:gd name="adj" fmla="val 82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068857" y="3665218"/>
            <a:ext cx="18478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320" y="3019646"/>
            <a:ext cx="247643" cy="190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86162" y="2981325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Empirical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2320" y="3362324"/>
            <a:ext cx="71721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NDVI and rainfall estimates have predictive signal for crop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2320" y="3616084"/>
            <a:ext cx="4757969" cy="2925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Roboto Flex"/>
              </a:rPr>
              <a:t>• No forward-looking guidance </a:t>
            </a:r>
            <a:r>
              <a:rPr lang="en-US" sz="956" dirty="0">
                <a:solidFill>
                  <a:srgbClr val="FFFFFF"/>
                </a:solidFill>
                <a:latin typeface="Roboto Flex"/>
              </a:rPr>
              <a:t>systems exists,</a:t>
            </a:r>
            <a:r>
              <a:rPr sz="956" b="0" dirty="0">
                <a:solidFill>
                  <a:srgbClr val="FFFFFF"/>
                </a:solidFill>
                <a:latin typeface="Roboto Flex"/>
              </a:rPr>
              <a:t> only monitoring and historical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2320" y="3901834"/>
            <a:ext cx="2507353" cy="2925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Roboto Flex"/>
              </a:rPr>
              <a:t>• </a:t>
            </a:r>
            <a:r>
              <a:rPr sz="956" b="1" dirty="0">
                <a:solidFill>
                  <a:srgbClr val="37DCF2"/>
                </a:solidFill>
                <a:latin typeface="Roboto Flex"/>
              </a:rPr>
              <a:t>Few systems use predictive modeling</a:t>
            </a:r>
            <a:endParaRPr sz="956" b="0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2320" y="4219575"/>
            <a:ext cx="71721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SARIMAX performs well in data-scarce African contexts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43251" y="4829175"/>
            <a:ext cx="3695607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647" y="5052059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00439" y="4981574"/>
            <a:ext cx="20573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Conceptual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647" y="5324474"/>
            <a:ext cx="3390815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Satellite data → SARIMAX forecasting → FAO scoring → Web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29354" y="4829175"/>
            <a:ext cx="3695607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1750" y="5017769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86542" y="4981574"/>
            <a:ext cx="12382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Critical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1750" y="5324474"/>
            <a:ext cx="3390815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No integrated tool combining satellite data, forecasting, and crop recommendations for Malawi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2445" y="971551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7057" y="962026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Roboto Flex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2404" y="800101"/>
            <a:ext cx="247643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00200"/>
            <a:ext cx="29622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129" y="1803082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752599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Research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095499"/>
            <a:ext cx="2657408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Quantitative Design Science Research (DSR)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9429" y="1600200"/>
            <a:ext cx="29622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825" y="180308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76618" y="1752599"/>
            <a:ext cx="12382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1825" y="2095499"/>
            <a:ext cx="2657408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AAGWA Platform • Rainfall, LST, NDVI • Jan 2022-Feb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2895600"/>
            <a:ext cx="2962200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3072765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3047999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Data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3390899"/>
            <a:ext cx="2657408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Row-skipping &amp; HTML removal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3619499"/>
            <a:ext cx="2657408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Wide-to-long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" y="3848099"/>
            <a:ext cx="2657408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Missing value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29" y="4076699"/>
            <a:ext cx="2657408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Dataset merging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9429" y="2895600"/>
            <a:ext cx="2962200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1825" y="311848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6618" y="3047999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System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1825" y="3390899"/>
            <a:ext cx="265740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Flask web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1825" y="3619499"/>
            <a:ext cx="265740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models.py • services.py • app.py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610099"/>
            <a:ext cx="6114897" cy="1447800"/>
          </a:xfrm>
          <a:prstGeom prst="roundRect">
            <a:avLst>
              <a:gd name="adj" fmla="val 10526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7637" y="5284469"/>
            <a:ext cx="14478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802" y="4829589"/>
            <a:ext cx="266693" cy="2087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66793" y="4800600"/>
            <a:ext cx="532434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Analysis Techniques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793" y="5429250"/>
            <a:ext cx="140966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Order: 1,1,1,1,1,1,23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5547" y="5429250"/>
            <a:ext cx="120011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Suitability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4301" y="5429250"/>
            <a:ext cx="1057248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TimeSeriesSplit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53116" y="1219200"/>
            <a:ext cx="4171845" cy="52387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2920" y="1666874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9119" y="1672130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Roboto Flex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4466" y="1510205"/>
            <a:ext cx="404802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Experiment 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612397"/>
            <a:ext cx="247643" cy="204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575" y="2571750"/>
            <a:ext cx="1600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Regions 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952750"/>
            <a:ext cx="1438239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31" y="3028950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Chitipa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31" y="3295650"/>
            <a:ext cx="12858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Northern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9269" y="2952750"/>
            <a:ext cx="1438239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95467" y="3028950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Lilongwe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467" y="3295650"/>
            <a:ext cx="12858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2280" y="2952750"/>
            <a:ext cx="1438239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8479" y="3028950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Dowa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8479" y="3295650"/>
            <a:ext cx="12858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Central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752849"/>
            <a:ext cx="4533786" cy="1333500"/>
          </a:xfrm>
          <a:prstGeom prst="roundRect">
            <a:avLst>
              <a:gd name="adj" fmla="val 11428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9513" y="4370069"/>
            <a:ext cx="1333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02" y="3988316"/>
            <a:ext cx="247643" cy="1958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9644" y="3943350"/>
            <a:ext cx="26288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Forecast Accuracy (MAE)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02" y="4324349"/>
            <a:ext cx="127631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</a:rPr>
              <a:t>10.518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02" y="4705350"/>
            <a:ext cx="127631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Rainfall (mm)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4517" y="4324349"/>
            <a:ext cx="127631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</a:rPr>
              <a:t>0.160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4517" y="4705350"/>
            <a:ext cx="127631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NDVI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706" y="4324349"/>
            <a:ext cx="127631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</a:rPr>
              <a:t>8.995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3706" y="4705350"/>
            <a:ext cx="127631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LST (°C)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2005" y="1706636"/>
            <a:ext cx="247643" cy="1871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5847" y="1657350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Key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72005" y="2190749"/>
            <a:ext cx="2800279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4401" y="2423272"/>
            <a:ext cx="190495" cy="10645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91095" y="2343150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Best Performing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4401" y="2686050"/>
            <a:ext cx="249548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 </a:t>
            </a:r>
            <a:r>
              <a:rPr sz="956" b="1">
                <a:solidFill>
                  <a:srgbClr val="37DCF2"/>
                </a:solidFill>
                <a:latin typeface="Roboto Flex"/>
              </a:rPr>
              <a:t>Millet &amp; Sorghum</a:t>
            </a:r>
            <a:r>
              <a:rPr sz="1104"/>
              <a:t>
</a:t>
            </a:r>
            <a:r>
              <a:rPr sz="956" b="0">
                <a:solidFill>
                  <a:srgbClr val="FFFFFF"/>
                </a:solidFill>
                <a:latin typeface="Roboto Flex"/>
              </a:rPr>
              <a:t> Most suitable across all districts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24681" y="2190749"/>
            <a:ext cx="2800279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7078" y="2423272"/>
            <a:ext cx="190495" cy="10645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3771" y="2343150"/>
            <a:ext cx="14382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Lowest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7078" y="2686050"/>
            <a:ext cx="2495487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 </a:t>
            </a:r>
            <a:r>
              <a:rPr sz="956" b="1">
                <a:solidFill>
                  <a:srgbClr val="37DCF2"/>
                </a:solidFill>
                <a:latin typeface="Roboto Flex"/>
              </a:rPr>
              <a:t>Rice</a:t>
            </a:r>
            <a:r>
              <a:rPr sz="1104"/>
              <a:t>
</a:t>
            </a:r>
            <a:r>
              <a:rPr sz="956" b="0">
                <a:solidFill>
                  <a:srgbClr val="FFFFFF"/>
                </a:solidFill>
                <a:latin typeface="Roboto Flex"/>
              </a:rPr>
              <a:t> High water requirements limit suitability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72005" y="3676649"/>
            <a:ext cx="2800279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4401" y="388676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91095" y="3829050"/>
            <a:ext cx="17525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Consistent Winner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4401" y="4171950"/>
            <a:ext cx="249548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 </a:t>
            </a:r>
            <a:r>
              <a:rPr sz="956" b="1">
                <a:solidFill>
                  <a:srgbClr val="37DCF2"/>
                </a:solidFill>
                <a:latin typeface="Roboto Flex"/>
              </a:rPr>
              <a:t>Cassava</a:t>
            </a:r>
            <a:r>
              <a:rPr sz="1104"/>
              <a:t>
</a:t>
            </a:r>
            <a:r>
              <a:rPr sz="956" b="0">
                <a:solidFill>
                  <a:srgbClr val="FFFFFF"/>
                </a:solidFill>
                <a:latin typeface="Roboto Flex"/>
              </a:rPr>
              <a:t> Ranked #1 in all three districts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4681" y="3676649"/>
            <a:ext cx="2800279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96127" y="3903008"/>
            <a:ext cx="190495" cy="15688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62820" y="3848099"/>
            <a:ext cx="16477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Critical Finding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6127" y="4190999"/>
            <a:ext cx="24573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 </a:t>
            </a:r>
            <a:r>
              <a:rPr sz="956" b="1">
                <a:solidFill>
                  <a:srgbClr val="37DCF2"/>
                </a:solidFill>
                <a:latin typeface="Roboto Flex"/>
              </a:rPr>
              <a:t>Rice</a:t>
            </a:r>
            <a:r>
              <a:rPr sz="956" b="0">
                <a:solidFill>
                  <a:srgbClr val="FFFFFF"/>
                </a:solidFill>
                <a:latin typeface="Roboto Flex"/>
              </a:rPr>
              <a:t> consistently shows </a:t>
            </a:r>
            <a:r>
              <a:rPr sz="956" b="1">
                <a:solidFill>
                  <a:srgbClr val="37DCF2"/>
                </a:solidFill>
                <a:latin typeface="Roboto Flex"/>
              </a:rPr>
              <a:t>MARGINAL</a:t>
            </a:r>
            <a:r>
              <a:rPr sz="956" b="0">
                <a:solidFill>
                  <a:srgbClr val="FFFFFF"/>
                </a:solidFill>
                <a:latin typeface="Roboto Flex"/>
              </a:rPr>
              <a:t>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72005" y="4933950"/>
            <a:ext cx="5752956" cy="1066799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4401" y="510349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29194" y="5086350"/>
            <a:ext cx="51433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Suitability Patterns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9194" y="5391150"/>
            <a:ext cx="5143371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Drought-resistant crops perform best. Vegetation health (NDVI) is a critical factor in crop suitability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02164" y="1044199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6262" y="1024368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 dirty="0">
                <a:solidFill>
                  <a:srgbClr val="37DCF2"/>
                </a:solidFill>
                <a:latin typeface="Roboto Flex"/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7511" y="882274"/>
            <a:ext cx="517194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Evaluation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581149"/>
            <a:ext cx="2981250" cy="16764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129" y="1789747"/>
            <a:ext cx="228594" cy="154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733550"/>
            <a:ext cx="195257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Evaluation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076449"/>
            <a:ext cx="2676458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System 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2343150"/>
            <a:ext cx="2676458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Suitability scoring validity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2609850"/>
            <a:ext cx="2676458" cy="2286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Interpretability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0379" y="1581149"/>
            <a:ext cx="2981250" cy="16764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776" y="1764029"/>
            <a:ext cx="228594" cy="205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7568" y="1733550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Validation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2776" y="2076449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TimeSeriesSplit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2776" y="2343150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FAO EcoCrop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2776" y="2609850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Cross-referenced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3409950"/>
            <a:ext cx="6114897" cy="1104900"/>
          </a:xfrm>
          <a:prstGeom prst="roundRect">
            <a:avLst>
              <a:gd name="adj" fmla="val 13793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163813" y="3912870"/>
            <a:ext cx="11049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03" y="35985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496" y="3562349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Validation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03" y="4152899"/>
            <a:ext cx="1504912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Trend-based forecasts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9804" y="4152899"/>
            <a:ext cx="1590635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FAO agronomic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1430" y="4152899"/>
            <a:ext cx="1381090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Non-specialist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667249"/>
            <a:ext cx="2981250" cy="1409699"/>
          </a:xfrm>
          <a:prstGeom prst="roundRect">
            <a:avLst>
              <a:gd name="adj" fmla="val 1081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129" y="4857273"/>
            <a:ext cx="228594" cy="1914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21" y="4819650"/>
            <a:ext cx="10286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29" y="5162550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Flask web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29" y="5429250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Downloadable PDF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29" y="5695949"/>
            <a:ext cx="26764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</a:t>
            </a:r>
            <a:r>
              <a:rPr sz="956" b="1">
                <a:solidFill>
                  <a:srgbClr val="37DCF2"/>
                </a:solidFill>
                <a:latin typeface="Roboto Flex"/>
              </a:rPr>
              <a:t>30-second</a:t>
            </a:r>
            <a:r>
              <a:rPr sz="956" b="0">
                <a:solidFill>
                  <a:srgbClr val="FFFFFF"/>
                </a:solidFill>
                <a:latin typeface="Roboto Flex"/>
              </a:rPr>
              <a:t> processing (cached)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00379" y="4667249"/>
            <a:ext cx="2981250" cy="1409699"/>
          </a:xfrm>
          <a:prstGeom prst="roundRect">
            <a:avLst>
              <a:gd name="adj" fmla="val 1081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145060" y="5322568"/>
            <a:ext cx="1409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1350" y="4933742"/>
            <a:ext cx="228594" cy="385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86142" y="4819650"/>
            <a:ext cx="6191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1350" y="5162550"/>
            <a:ext cx="2647883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 Provides </a:t>
            </a:r>
            <a:r>
              <a:rPr sz="956" b="1">
                <a:solidFill>
                  <a:srgbClr val="37DCF2"/>
                </a:solidFill>
                <a:latin typeface="Roboto Flex"/>
              </a:rPr>
              <a:t>localized five-year</a:t>
            </a:r>
            <a:r>
              <a:rPr sz="956" b="0">
                <a:solidFill>
                  <a:srgbClr val="FFFFFF"/>
                </a:solidFill>
                <a:latin typeface="Roboto Flex"/>
              </a:rPr>
              <a:t> crop guidance where none existed before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3116" y="1219200"/>
            <a:ext cx="4171845" cy="52387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076" y="1204434"/>
            <a:ext cx="942951" cy="247649"/>
          </a:xfrm>
          <a:prstGeom prst="roundRect">
            <a:avLst>
              <a:gd name="adj" fmla="val 76915384"/>
            </a:avLst>
          </a:prstGeom>
          <a:solidFill>
            <a:srgbClr val="37DCF2">
              <a:alpha val="1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2" y="1204435"/>
            <a:ext cx="9429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Roboto Flex"/>
              </a:rPr>
              <a:t>CHAPTER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079" y="1042510"/>
            <a:ext cx="651493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Conclusions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771650"/>
            <a:ext cx="3495587" cy="1295399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129" y="196881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1924049"/>
            <a:ext cx="16477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Research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266950"/>
            <a:ext cx="3190795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Successfully built data-driven crop prediction system for Malawi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816" y="1771650"/>
            <a:ext cx="3495587" cy="1295399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212" y="1960244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004" y="1924049"/>
            <a:ext cx="12382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212" y="2266950"/>
            <a:ext cx="3190795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</a:t>
            </a:r>
            <a:r>
              <a:rPr sz="837" b="1">
                <a:solidFill>
                  <a:srgbClr val="37DCF2"/>
                </a:solidFill>
                <a:latin typeface="Roboto Flex"/>
              </a:rPr>
              <a:t>Millet, Sorghum, Cassava</a:t>
            </a:r>
            <a:r>
              <a:rPr sz="837" b="0">
                <a:solidFill>
                  <a:srgbClr val="FFFFFF"/>
                </a:solidFill>
                <a:latin typeface="Roboto Flex"/>
              </a:rPr>
              <a:t> favored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212" y="2495550"/>
            <a:ext cx="3190795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</a:t>
            </a:r>
            <a:r>
              <a:rPr sz="837" b="1">
                <a:solidFill>
                  <a:srgbClr val="37DCF2"/>
                </a:solidFill>
                <a:latin typeface="Roboto Flex"/>
              </a:rPr>
              <a:t>Rice</a:t>
            </a:r>
            <a:r>
              <a:rPr sz="837" b="0">
                <a:solidFill>
                  <a:srgbClr val="FFFFFF"/>
                </a:solidFill>
                <a:latin typeface="Roboto Flex"/>
              </a:rPr>
              <a:t> most vulnerable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9374" y="1771650"/>
            <a:ext cx="3495587" cy="1295399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1770" y="1960244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6562" y="1924049"/>
            <a:ext cx="11334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1770" y="2266950"/>
            <a:ext cx="3190795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No soil/irrigation/pest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1770" y="2495550"/>
            <a:ext cx="3190795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Limited to climate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1770" y="2724150"/>
            <a:ext cx="3190795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• Accuracy varies by region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3257550"/>
            <a:ext cx="5333866" cy="1600200"/>
          </a:xfrm>
          <a:prstGeom prst="roundRect">
            <a:avLst>
              <a:gd name="adj" fmla="val 9523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83837" y="4008120"/>
            <a:ext cx="1600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5802" y="3484377"/>
            <a:ext cx="247643" cy="21309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9644" y="3448049"/>
            <a:ext cx="12572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Conclusions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02" y="3829050"/>
            <a:ext cx="49243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System provides </a:t>
            </a:r>
            <a:r>
              <a:rPr sz="956" b="1">
                <a:solidFill>
                  <a:srgbClr val="37DCF2"/>
                </a:solidFill>
                <a:latin typeface="Roboto Flex"/>
              </a:rPr>
              <a:t>interpretable, data-driven</a:t>
            </a:r>
            <a:r>
              <a:rPr sz="956" b="0">
                <a:solidFill>
                  <a:srgbClr val="FFFFFF"/>
                </a:solidFill>
                <a:latin typeface="Roboto Flex"/>
              </a:rPr>
              <a:t>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02" y="4133849"/>
            <a:ext cx="49243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Fills critical gap between climate data and actionable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02" y="4438649"/>
            <a:ext cx="49243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Demonstrates value of transparent, rule-based AI in agriculture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3257550"/>
            <a:ext cx="5333866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590" y="3484377"/>
            <a:ext cx="247643" cy="2130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05432" y="3448049"/>
            <a:ext cx="17144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590" y="3829050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Expand to more crops and incorporate soil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590" y="4133849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Field testing with farmers for real-world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590" y="4438649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Regional deployment across Sub-Saharan Africa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5048250"/>
            <a:ext cx="10858228" cy="838200"/>
          </a:xfrm>
          <a:prstGeom prst="roundRect">
            <a:avLst>
              <a:gd name="adj" fmla="val 18181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129" y="5200650"/>
            <a:ext cx="10553436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DCF2"/>
                </a:solidFill>
                <a:latin typeface="Source Code Pro"/>
              </a:rPr>
              <a:t>This research demonstrates how climate-smart agriculture can provide practical, forward-looking guidance to farmers facing climate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655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Rading</cp:lastModifiedBy>
  <cp:revision>3</cp:revision>
  <dcterms:created xsi:type="dcterms:W3CDTF">2013-01-27T09:14:16Z</dcterms:created>
  <dcterms:modified xsi:type="dcterms:W3CDTF">2026-04-07T16:09:02Z</dcterms:modified>
  <cp:category/>
</cp:coreProperties>
</file>